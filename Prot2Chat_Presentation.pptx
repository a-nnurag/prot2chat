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2876" y="1645920"/>
            <a:ext cx="2743200" cy="36576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Prot2Chat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B0BEC5"/>
                </a:solidFill>
                <a:latin typeface="Calibri"/>
              </a:rPr>
              <a:t>Protein LLM with Early Fusion of Text, Sequence &amp;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6" y="3063240"/>
            <a:ext cx="2743200" cy="36576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E8A838"/>
                </a:solidFill>
                <a:latin typeface="Calibri"/>
              </a:rPr>
              <a:t>Study &amp; Implementation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0A4AE"/>
                </a:solidFill>
                <a:latin typeface="Calibri"/>
              </a:rPr>
              <a:t>B.Tech Major Project | CST Department | IIEST Shibpur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8909C"/>
                </a:solidFill>
                <a:latin typeface="Calibri"/>
              </a:rPr>
              <a:t>Submitted by: Anurag Chaurasia  |  Guide: Dr. Apurba Sarkar  |  2025–2026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607D8B"/>
                </a:solidFill>
                <a:latin typeface="Calibri"/>
              </a:rPr>
              <a:t>Original paper: Wang et al., Bioinformatics 2025, 41(8):btaf396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About the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5303520"/>
          </a:xfrm>
          <a:prstGeom prst="rect">
            <a:avLst/>
          </a:prstGeom>
          <a:solidFill>
            <a:srgbClr val="E8EAF6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D1B2A"/>
                </a:solidFill>
                <a:latin typeface="Calibri"/>
              </a:rPr>
              <a:t>Prot2Chat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55555"/>
                </a:solidFill>
                <a:latin typeface="Calibri"/>
              </a:rPr>
              <a:t>Wang et al.  |  Bioinformatics 2025  |  41(8):btaf396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• Novel protein Question &amp; Answering (Q&amp;A) framework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• Fuses three modalities: amino acid sequence + 3D structure + question text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• Architecture: Modified ProteinMPNN → Text-Aware Adapter → LLaMA3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• 109M trainable parameters — 10–30× fewer than competing models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• Achieves BLEU-2 of 35.85, ROUGE-L of 50.51 on Mol-Instructions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5303520" cy="1371600"/>
          </a:xfrm>
          <a:prstGeom prst="rect">
            <a:avLst/>
          </a:prstGeom>
          <a:solidFill>
            <a:srgbClr val="FFF8E1"/>
          </a:solidFill>
          <a:ln>
            <a:solidFill>
              <a:srgbClr val="E8A838"/>
            </a:solidFill>
          </a:ln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D4000"/>
                </a:solidFill>
                <a:latin typeface="Calibri"/>
              </a:rPr>
              <a:t>This project involved studying, implementing, and deploying the Prot2Chat system locally. The original research and model training were conducted by Wang et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Our Implementation Work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1508760"/>
          <a:ext cx="54864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Download &amp; setup base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Load LoRA weights (PEFT)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Load adapter checkpoint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Run Flask web application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Debug 4-bit quantization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Identify gibberish output root cause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Apply inference fixes (sampling, bfloat16)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Full diagnostic logging added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✅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65C0"/>
                </a:solidFill>
                <a:latin typeface="Calibri"/>
              </a:rPr>
              <a:t>Sequence Only</a:t>
            </a:r>
          </a:p>
          <a:p>
            <a:r>
              <a:rPr sz="1200">
                <a:solidFill>
                  <a:srgbClr val="1A1A2E"/>
                </a:solidFill>
                <a:latin typeface="Calibri"/>
              </a:rPr>
              <a:t>Models like BioMedGPT miss critical 3D structural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23444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325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A1B9A"/>
                </a:solidFill>
                <a:latin typeface="Calibri"/>
              </a:rPr>
              <a:t>Separate Encoders</a:t>
            </a:r>
          </a:p>
          <a:p>
            <a:r>
              <a:rPr sz="1200">
                <a:solidFill>
                  <a:srgbClr val="1A1A2E"/>
                </a:solidFill>
                <a:latin typeface="Calibri"/>
              </a:rPr>
              <a:t>ProtChatGPT, Evola use independent modules — poor cross-modal interaction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F360C"/>
                </a:solidFill>
                <a:latin typeface="Calibri"/>
              </a:rPr>
              <a:t>Classification Output</a:t>
            </a:r>
          </a:p>
          <a:p>
            <a:r>
              <a:rPr sz="1200">
                <a:solidFill>
                  <a:srgbClr val="1A1A2E"/>
                </a:solidFill>
                <a:latin typeface="Calibri"/>
              </a:rPr>
              <a:t>FAPM, InstructProtein produce limited structured text, not free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234440"/>
            <a:ext cx="26517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32588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5E20"/>
                </a:solidFill>
                <a:latin typeface="Calibri"/>
              </a:rPr>
              <a:t>No Eval Standard</a:t>
            </a:r>
          </a:p>
          <a:p>
            <a:r>
              <a:rPr sz="1200">
                <a:solidFill>
                  <a:srgbClr val="1A1A2E"/>
                </a:solidFill>
                <a:latin typeface="Calibri"/>
              </a:rPr>
              <a:t>No multi-metric framework to fairly compare protein Q&amp;A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63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Protein Q&amp;A Model Comparison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342900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56032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Output Type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Trainable Params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Prot2Text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Structured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256M–898M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BioMedGPT-10B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Sequence + Question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~3B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Evola-10B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Structure + Seq + 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~1.7B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ProtChatGPT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Structure + Seq + Q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Prot2Chat (Wang et al.)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[Struct+Seq+Q] Early Fusion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109M ✓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Literature Review – Research Constellation</a:t>
            </a:r>
          </a:p>
        </p:txBody>
      </p:sp>
      <p:pic>
        <p:nvPicPr>
          <p:cNvPr id="5" name="Picture 4" descr="sta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Each star = a key reference paper studied. Prot2Chat (North Star) synthesises insights from all surrounding research themes.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Datasets Used in Training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03520" cy="3657600"/>
          </a:xfrm>
          <a:prstGeom prst="rect">
            <a:avLst/>
          </a:prstGeom>
          <a:solidFill>
            <a:srgbClr val="E3F2FD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1B2A"/>
                </a:solidFill>
                <a:latin typeface="Calibri"/>
              </a:rPr>
              <a:t>Mol-Instructions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55555"/>
                </a:solidFill>
                <a:latin typeface="Calibri"/>
              </a:rPr>
              <a:t>Source: UniProtKB / SwissProt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Protein domains, functions &amp; biological activity Q&amp;A pairs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37744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404,640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16,859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11,072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432,571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891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838"/>
                </a:solidFill>
                <a:latin typeface="Calibri"/>
              </a:rPr>
              <a:t>Used for: Primary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303520" cy="3657600"/>
          </a:xfrm>
          <a:prstGeom prst="rect">
            <a:avLst/>
          </a:prstGeom>
          <a:solidFill>
            <a:srgbClr val="E8F5E9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1B2A"/>
                </a:solidFill>
                <a:latin typeface="Calibri"/>
              </a:rPr>
              <a:t>UniProtQA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55555"/>
                </a:solidFill>
                <a:latin typeface="Calibri"/>
              </a:rPr>
              <a:t>Source: UniProt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Protein function &amp; property textual descriptions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37744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25,820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6,734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33,629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63640" y="43891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838"/>
                </a:solidFill>
                <a:latin typeface="Calibri"/>
              </a:rPr>
              <a:t>Used for: Zero-shot &amp; fine-tuned generalisation</a:t>
            </a:r>
          </a:p>
        </p:txBody>
      </p:sp>
      <p:pic>
        <p:nvPicPr>
          <p:cNvPr id="17" name="Picture 16" descr="datas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983480"/>
            <a:ext cx="73152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Prot2Chat – System Architecture Overview</a:t>
            </a:r>
          </a:p>
        </p:txBody>
      </p:sp>
      <p:pic>
        <p:nvPicPr>
          <p:cNvPr id="5" name="Picture 4" descr="arch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49240"/>
            <a:ext cx="25603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D1B2A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Calibri"/>
              </a:rPr>
              <a:t>Input: PDB +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349240"/>
            <a:ext cx="25603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D1B2A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Calibri"/>
              </a:rPr>
              <a:t>Encoder Output: 1152-dim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349240"/>
            <a:ext cx="25603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D1B2A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Calibri"/>
              </a:rPr>
              <a:t>Adapter Output: 256 × 4096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349240"/>
            <a:ext cx="25603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D1B2A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  <a:latin typeface="Calibri"/>
              </a:rPr>
              <a:t>Total Params: 109M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Protein Encoder – Modified ProteinMPNN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How ProteinMPNN Was Modified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27048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ProteinMPNN (Dauparas et al., 2022): originally designed for sequence design from backbone 3D coords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Processes atoms: N, Cα, C, O per residue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Standard init: hV = Zeros(n, Dc)  ← node features start as zero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Prot2Chat change: hV = Embedding(S)  ← initialise with sequence embeddings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Result: structural processing is guided by sequence identity from the very first layer — true early fusion with no extra training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86200"/>
          <a:ext cx="5577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Standard ProteinMPNN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Prot2Chat Version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Node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hV = Zeros(n, Dc)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hV = Embedding(S)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Extra Params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None (frozen)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143000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9-Model Ensemble → 1152-dim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554480"/>
          <a:ext cx="530352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45920"/>
                <a:gridCol w="109728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 Type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Noise σ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Output Dim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Full-atom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Full-atom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Full-atom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Full-atom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Soluble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Soluble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CA-only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CA-only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CA-only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1B2A"/>
                          </a:solidFill>
                          <a:latin typeface="Calibri"/>
                        </a:rPr>
                        <a:t>Concatenated</a:t>
                      </a:r>
                    </a:p>
                  </a:txBody>
                  <a:tcPr>
                    <a:solidFill>
                      <a:srgbClr val="F5F5F5"/>
                    </a:solidFill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1B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1B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D1B2A"/>
                          </a:solidFill>
                          <a:latin typeface="Calibri"/>
                        </a:rPr>
                        <a:t>1152-dim ✓</a:t>
                      </a:r>
                    </a:p>
                  </a:txBody>
                  <a:tcPr>
                    <a:solidFill>
                      <a:srgbClr val="F5F5F5"/>
                    </a:solidFill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Text-Aware Protein-Text 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Adapter Processing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1. Linear Projection + Positional Encoding:
   Xproj = Wproj · hV + PE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2. Question Vector from frozen LLM:
   Qht = LLM(question).hidden_state[last_token]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3. 256 learnable queries conditioned on Qht:
   Q' = Q_learned + question_proj(Qht)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4. Multi-head Cross-Attention (16 heads):
   Ak = softmax(Qk Kk^T / √Dk) · Vk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5. Output Projection → 256 soft-prompt tokens
   Xprotein ∈ ℝ^(256 × 4096)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519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Why Early Fusion Matters: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617720"/>
          <a:ext cx="52120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BLEU-2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ROUGE-L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Late Fusion (no Qht in adapter)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47.90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Early Fusion (Qht in adapter) ✓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35.85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50.51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adapt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LLM Decoder – LoRA Fine-Tuned LLaMA3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LoRA Configuration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27048"/>
          <a:ext cx="52120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Base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LLaMA3-8B-Instruct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LoRA Rank (r)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LoRA Alpha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Target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q_proj, v_proj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LoRA Params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3,407,872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88620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Parameter Budget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297680"/>
          <a:ext cx="52120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ProteinMPNN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Frozen 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Adapter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106,483,712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Trained 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LLaMA3 LoRA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3,407,872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Trained 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LLaMA3 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~8 Billion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Frozen 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TOTAL TRAINED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~109 Million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114300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Training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Dataset: Mol-Instructions (404,640 samples)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Optimizer: Adam, LR = 1×10⁻⁴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Batch size: 2 + gradient accumulation (×16)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Max context: 1,024 tokens (question + answer)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Epochs: 2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Loss: CrossEntropyLoss (masked to answer tokens)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Hardware: NVIDIA RTX 3090 (24GB VRAM)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Duration: ~1,600 GPU-hours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• Precision: PyTorch AMP (float16)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88620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Key Design Principle: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279392"/>
            <a:ext cx="5852160" cy="1371600"/>
          </a:xfrm>
          <a:prstGeom prst="rect">
            <a:avLst/>
          </a:prstGeom>
          <a:solidFill>
            <a:srgbClr val="FFF8E1"/>
          </a:solidFill>
          <a:ln>
            <a:solidFill>
              <a:srgbClr val="E8A838"/>
            </a:solidFill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5D4000"/>
                </a:solidFill>
                <a:latin typeface="Calibri"/>
              </a:rPr>
              <a:t>Freeze the encoder &amp; LLM base. Train only the adapter + LoRA. This keeps parameter count at 109M while achieving state-of-the-art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the System Generates an Answer</a:t>
            </a:r>
          </a:p>
        </p:txBody>
      </p:sp>
      <p:pic>
        <p:nvPicPr>
          <p:cNvPr id="5" name="Picture 4" descr="inferenc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023360"/>
            <a:ext cx="5303520" cy="2468880"/>
          </a:xfrm>
          <a:prstGeom prst="rect">
            <a:avLst/>
          </a:prstGeom>
          <a:solidFill>
            <a:srgbClr val="E3F2FD"/>
          </a:solidFill>
          <a:ln w="10160">
            <a:solidFill>
              <a:srgbClr val="0D1B2A"/>
            </a:solidFill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1B2A"/>
                </a:solidFill>
                <a:latin typeface="Calibri"/>
              </a:rPr>
              <a:t>Technical Details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Input: 256 protein tokens + ~15 question tokens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Protein embed norm: ~408 vs text norm: ~0.4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Sampling: temperature=0.3, top_p=0.9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repetition_penalty=1.3, no_repeat_ngram=4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023360"/>
            <a:ext cx="5303520" cy="2468880"/>
          </a:xfrm>
          <a:prstGeom prst="rect">
            <a:avLst/>
          </a:prstGeom>
          <a:solidFill>
            <a:srgbClr val="E8F5E9"/>
          </a:solidFill>
          <a:ln w="10160">
            <a:solidFill>
              <a:srgbClr val="0D1B2A"/>
            </a:solidFill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1B2A"/>
                </a:solidFill>
                <a:latin typeface="Calibri"/>
              </a:rPr>
              <a:t>Deployment (Our Implementation)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Flask REST API: POST /api/query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Input: multipart/form-data (PDB + question)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Output: JSON {"answer": "..."}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4-bit NF4 quantization (bfloat16 compute)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• Flags: --zero_question, --no_quant, --no_lora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Experimental Results – Mol-Instructions Dataset</a:t>
            </a:r>
          </a:p>
        </p:txBody>
      </p:sp>
      <p:pic>
        <p:nvPicPr>
          <p:cNvPr id="5" name="Picture 4" descr="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097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Performance Scores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463040"/>
          <a:ext cx="45720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BLEU-2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ROUGE-L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LLaMA3-8B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4.84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15.36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LLaMA3-FT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6.42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17.03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BioMedGPT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7.84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Evola-10B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8.69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20.04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KIMI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14.70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KIMI few-shot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12.05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24.18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Prot2Chat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35.85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50.51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937760"/>
            <a:ext cx="11430000" cy="640080"/>
          </a:xfrm>
          <a:prstGeom prst="rect">
            <a:avLst/>
          </a:prstGeom>
          <a:solidFill>
            <a:srgbClr val="FFF3CD"/>
          </a:solidFill>
          <a:ln>
            <a:solidFill>
              <a:srgbClr val="E8A83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Prot2Chat achieves 35.85 BLEU-2 — over 4× Evola-10B (8.69) and 2.9× KIMI few-shot (12.05) — with only 109M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Ablation Study – Impact of Each Component</a:t>
            </a:r>
          </a:p>
        </p:txBody>
      </p:sp>
      <p:pic>
        <p:nvPicPr>
          <p:cNvPr id="5" name="Picture 4" descr="ablation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6692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1430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What Each Component Contributes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527048"/>
          <a:ext cx="5303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Removed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BLEU-2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None (Full model)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35.85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w/o LLM fine-tuning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12.87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C62828"/>
                          </a:solidFill>
                          <a:latin typeface="Calibri"/>
                        </a:rPr>
                        <a:t>▼64%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w/o Protein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31.88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C62828"/>
                          </a:solidFill>
                          <a:latin typeface="Calibri"/>
                        </a:rPr>
                        <a:t>▼11%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w/o Early text fusion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33.25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C62828"/>
                          </a:solidFill>
                          <a:latin typeface="Calibri"/>
                        </a:rPr>
                        <a:t>▼7.3%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3337560"/>
            <a:ext cx="5212080" cy="804672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🔥 LLM fine-tuning is the most critical component — removing it causes 64%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251960"/>
            <a:ext cx="5212080" cy="804672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🧬 Sequence adds identity info that structure alone cannot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166360"/>
            <a:ext cx="5212080" cy="804672"/>
          </a:xfrm>
          <a:prstGeom prst="rect">
            <a:avLst/>
          </a:prstGeom>
          <a:solidFill>
            <a:srgbClr val="E3F2FD"/>
          </a:solidFill>
          <a:ln w="25400">
            <a:solidFill>
              <a:srgbClr val="0D47A1"/>
            </a:solidFill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💬 Early fusion of question text improves relevance by 7.3%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Expert Evaluation &amp;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  <a:latin typeface="Calibri"/>
              </a:rPr>
              <a:t>KIMI Automated Ranking (650 samples)</a:t>
            </a:r>
          </a:p>
        </p:txBody>
      </p:sp>
      <p:pic>
        <p:nvPicPr>
          <p:cNvPr id="6" name="Picture 5" descr="expert_k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27048"/>
            <a:ext cx="5303520" cy="3200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663440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Avg. Rank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1st Place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Prot2Chat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386/650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Evola-10B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220/650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BioMedGPT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26/650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LLaMA3-FT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3.46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18/650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Case Study – Protein O58736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27048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55555"/>
                </a:solidFill>
                <a:latin typeface="Calibri"/>
              </a:rPr>
              <a:t>Q: Assess potential function from structure +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5486400" cy="11887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99999"/>
                </a:solidFill>
                <a:latin typeface="Calibri"/>
              </a:rPr>
              <a:t>LLaMA3-FT</a:t>
            </a:r>
          </a:p>
          <a:p>
            <a:r>
              <a:rPr sz="1200">
                <a:solidFill>
                  <a:srgbClr val="1A1A2E"/>
                </a:solidFill>
                <a:latin typeface="Calibri"/>
              </a:rPr>
              <a:t>Lists transmembrane regions. No functional prediction. Generic sequence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54864" cy="1188720"/>
          </a:xfrm>
          <a:prstGeom prst="rect">
            <a:avLst/>
          </a:prstGeom>
          <a:solidFill>
            <a:srgbClr val="999999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46120"/>
            <a:ext cx="5486400" cy="1188720"/>
          </a:xfrm>
          <a:prstGeom prst="rect">
            <a:avLst/>
          </a:prstGeom>
          <a:solidFill>
            <a:srgbClr val="E8F5E9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Calibri"/>
              </a:rPr>
              <a:t>Prot2Chat ✓</a:t>
            </a:r>
          </a:p>
          <a:p>
            <a:r>
              <a:rPr sz="1200">
                <a:solidFill>
                  <a:srgbClr val="1A1A2E"/>
                </a:solidFill>
                <a:latin typeface="Calibri"/>
              </a:rPr>
              <a:t>Identifies adenylate kinase activity, ATP biosynthetic process, and phosphorylation.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246120"/>
            <a:ext cx="54864" cy="1188720"/>
          </a:xfrm>
          <a:prstGeom prst="rect">
            <a:avLst/>
          </a:prstGeom>
          <a:solidFill>
            <a:srgbClr val="2E7D3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572000"/>
            <a:ext cx="5486400" cy="1188720"/>
          </a:xfrm>
          <a:prstGeom prst="rect">
            <a:avLst/>
          </a:prstGeom>
          <a:solidFill>
            <a:srgbClr val="E3F2FD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47A1"/>
                </a:solidFill>
                <a:latin typeface="Calibri"/>
              </a:rPr>
              <a:t>Ground Truth</a:t>
            </a:r>
          </a:p>
          <a:p>
            <a:r>
              <a:rPr sz="1200">
                <a:solidFill>
                  <a:srgbClr val="1A1A2E"/>
                </a:solidFill>
                <a:latin typeface="Calibri"/>
              </a:rPr>
              <a:t>ATP binding and phosphorylation involvement confirmed.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572000"/>
            <a:ext cx="54864" cy="1188720"/>
          </a:xfrm>
          <a:prstGeom prst="rect">
            <a:avLst/>
          </a:prstGeom>
          <a:solidFill>
            <a:srgbClr val="0D47A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66928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55555"/>
                </a:solidFill>
                <a:latin typeface="Calibri"/>
              </a:rPr>
              <a:t>Expert ranking mirrors KIMI (1.49 vs 1.45 avg rank) — validates automated evaluation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488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Key Findings from the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✅ Early fusion outperforms late fusion (BLEU-2 +7.8%)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✅ Structure + Sequence beats Sequence alone (+12.6%)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✅ LLM fine-tuning gives the biggest boost (+170%)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✅ 109M params outperforms models 10–30× larger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✅ Expert &amp; KIMI evaluations are highly consistent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5643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⚠ Requires PDB file — limits proteins without known structure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⚠ ~1,600 GPU-hours for training on RTX 3090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⚠ Zero-shot performance modest (BLEU-2: 2.23 on UniProtQA)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⚠ 4-bit quantization causes output degradation on low-VRAM GPUs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14300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🔭 Integrate AlphaFold3 predictions — remove PDB requirement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🔭 Extend to protein complexes &amp; protein-ligand interactions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🔭 Apply framework to multi-omics (genomics, metabolomics)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🔭 Larger, higher-quality protein Q&amp;A training datasets</a:t>
            </a:r>
          </a:p>
          <a:p>
            <a:pPr algn="l"/>
            <a:r>
              <a:rPr sz="1400">
                <a:solidFill>
                  <a:srgbClr val="1A1A2E"/>
                </a:solidFill>
                <a:latin typeface="Calibri"/>
              </a:rPr>
              <a:t>🔭 Real-time drug discovery pipeline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63240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  <a:latin typeface="Calibri"/>
              </a:rPr>
              <a:t>Our Implementation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456432"/>
            <a:ext cx="5943600" cy="2560320"/>
          </a:xfrm>
          <a:prstGeom prst="rect">
            <a:avLst/>
          </a:prstGeom>
          <a:solidFill>
            <a:srgbClr val="FFF8E1"/>
          </a:solidFill>
          <a:ln w="15240">
            <a:solidFill>
              <a:srgbClr val="E8A838"/>
            </a:solidFill>
          </a:ln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Implemented the complete Prot2Chat inference pipeline locally. Diagnosed and documented the 4-bit quantization issue causing gibberish output. Applied fixes: bfloat16 compute dtype, --zero_question flag, temperature sampling, and detailed diagnostic logging. Contributed to GitHub: github.com/a-nnurag/Prot2Chat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5676" y="2011680"/>
            <a:ext cx="3657600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017520"/>
            <a:ext cx="3657600" cy="45720"/>
          </a:xfrm>
          <a:prstGeom prst="rect">
            <a:avLst/>
          </a:prstGeom>
          <a:solidFill>
            <a:srgbClr val="E8A838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B0BEC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8909C"/>
                </a:solidFill>
                <a:latin typeface="Calibri"/>
              </a:rPr>
              <a:t>Paper: Wang et al.  |  Bioinformatics 2025  |  DOI: 10.1093/bioinformatics/btaf396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8909C"/>
                </a:solidFill>
                <a:latin typeface="Calibri"/>
              </a:rPr>
              <a:t>Implementation by: Anurag Chaurasia  |  IIEST Shibpur  |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E8A838"/>
                </a:solidFill>
                <a:latin typeface="Calibri"/>
              </a:rPr>
              <a:t>GitHub: github.com/a-nnurag/Prot2Chat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